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3525ee89-771f-b4a2-b053-1bfb53e11c71}">
          <p14:sldIdLst>
            <p14:sldId id="256"/>
            <p14:sldId id="257"/>
            <p14:sldId id="258"/>
          </p14:sldIdLst>
        </p14:section>
        <p14:section name="Erarbeitung" id="{77ba79af-ba49-ed98-4292-f5e50075f529}">
          <p14:sldIdLst>
            <p14:sldId id="259"/>
            <p14:sldId id="260"/>
            <p14:sldId id="261"/>
          </p14:sldIdLst>
        </p14:section>
        <p14:section name="Plenum" id="{6f800f53-6669-d0ae-2330-9cdc0879cb1b}">
          <p14:sldIdLst>
            <p14:sldId id="262"/>
          </p14:sldIdLst>
        </p14:section>
        <p14:section name="Sicherung" id="{e94b4d7f-f8b8-82a8-2d53-a596c04a5076}">
          <p14:sldIdLst>
            <p14:sldId id="263"/>
            <p14:sldId id="264"/>
          </p14:sldIdLst>
        </p14:section>
        <p14:section name="Lehrkraft" id="{20f4efed-c64b-962e-a51b-e18571aeffaf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Einstieg: Die Ampel zieht sich als Motiv durch die Stunde. Grün = gedeckt, Gelb = Grenzfall, Rot = verletzt die Würde.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 bis drei Schüler fassen kurz zusammen, was Art. 1 und Art. 5 bedeuten. Ca. 5 Minuten.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Raster an die Tafel schreiben bzw. hier zeigen; die Schüler schreiben mit (ca. 3 Minuten).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Fall 3 und 4 sind am ergiebigsten. Ca. 13 Minuten für alle vier Fälle.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914400"/>
            <a:ext cx="56692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108960"/>
            <a:ext cx="5486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91440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Wo endet die Meinungsfreiheit?</a:t>
            </a:r>
            <a:endParaRPr lang="en-US" sz="4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1089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Ethik · Menschenwürde vs. freie Meinungsäußerung · 45 Minuten</a:t>
            </a:r>
            <a:endParaRPr lang="en-US" sz="1800" dirty="0"/>
          </a:p>
        </p:txBody>
      </p:sp>
      <p:sp>
        <p:nvSpPr>
          <p:cNvPr id="4" name="Ampel Gehäuse"/>
          <p:cNvSpPr/>
          <p:nvPr/>
        </p:nvSpPr>
        <p:spPr>
          <a:xfrm>
            <a:off x="6720840" y="640080"/>
            <a:ext cx="1554480" cy="3840480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Ampel Rot"/>
          <p:cNvSpPr/>
          <p:nvPr/>
        </p:nvSpPr>
        <p:spPr>
          <a:xfrm>
            <a:off x="6949440" y="868680"/>
            <a:ext cx="1097280" cy="10972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6" name="Ampel Gelb"/>
          <p:cNvSpPr/>
          <p:nvPr/>
        </p:nvSpPr>
        <p:spPr>
          <a:xfrm>
            <a:off x="6949440" y="2057400"/>
            <a:ext cx="1097280" cy="10972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7" name="Ampel Grün"/>
          <p:cNvSpPr/>
          <p:nvPr/>
        </p:nvSpPr>
        <p:spPr>
          <a:xfrm>
            <a:off x="6949440" y="324612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Zwei Grundrechte, ein Spannungsfeld</a:t>
            </a:r>
            <a:endParaRPr lang="en-US" sz="3200" dirty="0"/>
          </a:p>
        </p:txBody>
      </p:sp>
      <p:sp>
        <p:nvSpPr>
          <p:cNvPr id="3" name="Karte Art. 1 GG"/>
          <p:cNvSpPr/>
          <p:nvPr/>
        </p:nvSpPr>
        <p:spPr>
          <a:xfrm>
            <a:off x="457200" y="1234440"/>
            <a:ext cx="393192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MENSCHENWÜRDE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1 GG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„Die Würde des Menschen ist unantastbar.“</a:t>
            </a:r>
            <a:endParaRPr lang="en-US" sz="1800" dirty="0"/>
          </a:p>
        </p:txBody>
      </p:sp>
      <p:sp>
        <p:nvSpPr>
          <p:cNvPr id="7" name="Karte Art. 5 GG"/>
          <p:cNvSpPr/>
          <p:nvPr/>
        </p:nvSpPr>
        <p:spPr>
          <a:xfrm>
            <a:off x="4754880" y="1234440"/>
            <a:ext cx="393192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MEINUNGSFREIHEIT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83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5 GG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468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„Jeder hat das Recht, seine Meinung frei zu äußern.“</a:t>
            </a:r>
            <a:endParaRPr lang="en-US" sz="1800" dirty="0"/>
          </a:p>
        </p:txBody>
      </p:sp>
      <p:sp>
        <p:nvSpPr>
          <p:cNvPr id="11" name="Frage Kreis"/>
          <p:cNvSpPr/>
          <p:nvPr/>
        </p:nvSpPr>
        <p:spPr>
          <a:xfrm>
            <a:off x="4251960" y="22402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?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Was ist der Kern von beidem? Wo können sie aufeinanderprallen?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Das Prüfraster: vier Fragen</a:t>
            </a:r>
            <a:endParaRPr lang="en-US" sz="3200" dirty="0"/>
          </a:p>
        </p:txBody>
      </p:sp>
      <p:sp>
        <p:nvSpPr>
          <p:cNvPr id="3" name="Raster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mer 1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173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Meinung oder Tatsache?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574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Ist es eine Bewertung oder eine Behauptung, die man prüfen kann?</a:t>
            </a:r>
            <a:endParaRPr lang="en-US" sz="1400" dirty="0"/>
          </a:p>
        </p:txBody>
      </p:sp>
      <p:sp>
        <p:nvSpPr>
          <p:cNvPr id="7" name="Raster 2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ummer 2"/>
          <p:cNvSpPr/>
          <p:nvPr/>
        </p:nvSpPr>
        <p:spPr>
          <a:xfrm>
            <a:off x="489204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14173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Gegen wen richtet es sich?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0574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Gegen eine Sache oder Handlung – oder gegen die Person als Mensch?</a:t>
            </a:r>
            <a:endParaRPr lang="en-US" sz="1400" dirty="0"/>
          </a:p>
        </p:txBody>
      </p:sp>
      <p:sp>
        <p:nvSpPr>
          <p:cNvPr id="11" name="Raster 3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ummer 3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200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Wird der Wert als Mensch abgesprochen?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840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Entmenschlichung, Ausgrenzung, Herabwürdigung wegen Herkunft, Religion, Aussehen.</a:t>
            </a:r>
            <a:endParaRPr lang="en-US" sz="1400" dirty="0"/>
          </a:p>
        </p:txBody>
      </p:sp>
      <p:sp>
        <p:nvSpPr>
          <p:cNvPr id="15" name="Raster 4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mer 4"/>
          <p:cNvSpPr/>
          <p:nvPr/>
        </p:nvSpPr>
        <p:spPr>
          <a:xfrm>
            <a:off x="4892040" y="3200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3200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Welche Folgen hat es?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840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Was bewirkt die Aussage bei den Betroffenen? Wer wird zum Schweigen gebracht?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Gruppenarbeit: 12 Minuten</a:t>
            </a:r>
            <a:endParaRPr lang="en-US" sz="3200" dirty="0"/>
          </a:p>
        </p:txBody>
      </p:sp>
      <p:sp>
        <p:nvSpPr>
          <p:cNvPr id="3" name="Schritt 1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4er-Gruppen bilden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645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Alle vier Fälle werden bearbeitet.</a:t>
            </a:r>
            <a:endParaRPr lang="en-US" sz="1400" dirty="0"/>
          </a:p>
        </p:txBody>
      </p:sp>
      <p:sp>
        <p:nvSpPr>
          <p:cNvPr id="6" name="Schritt 2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 Fall entscheiden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743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Ampelfarbe wählen (siehe rechts).</a:t>
            </a:r>
            <a:endParaRPr lang="en-US" sz="1400" dirty="0"/>
          </a:p>
        </p:txBody>
      </p:sp>
      <p:sp>
        <p:nvSpPr>
          <p:cNvPr id="9" name="Schritt 3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Begründen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840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Mit dem Prüfraster, mindestens zwei Sätze pro Fall.</a:t>
            </a:r>
            <a:endParaRPr lang="en-US" sz="1400" dirty="0"/>
          </a:p>
        </p:txBody>
      </p:sp>
      <p:sp>
        <p:nvSpPr>
          <p:cNvPr id="12" name="Ampel Karte"/>
          <p:cNvSpPr/>
          <p:nvPr/>
        </p:nvSpPr>
        <p:spPr>
          <a:xfrm>
            <a:off x="5303520" y="1188720"/>
            <a:ext cx="33832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Ampelpunkt 1"/>
          <p:cNvSpPr/>
          <p:nvPr/>
        </p:nvSpPr>
        <p:spPr>
          <a:xfrm>
            <a:off x="5577840" y="14173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417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Von der Meinungsfreiheit gedeckt</a:t>
            </a:r>
            <a:endParaRPr lang="en-US" sz="1600" dirty="0"/>
          </a:p>
        </p:txBody>
      </p:sp>
      <p:sp>
        <p:nvSpPr>
          <p:cNvPr id="15" name="Ampelpunkt 2"/>
          <p:cNvSpPr/>
          <p:nvPr/>
        </p:nvSpPr>
        <p:spPr>
          <a:xfrm>
            <a:off x="5577840" y="24231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Grenzfall</a:t>
            </a:r>
            <a:endParaRPr lang="en-US" sz="1600" dirty="0"/>
          </a:p>
        </p:txBody>
      </p:sp>
      <p:sp>
        <p:nvSpPr>
          <p:cNvPr id="17" name="Ampelpunkt 3"/>
          <p:cNvSpPr/>
          <p:nvPr/>
        </p:nvSpPr>
        <p:spPr>
          <a:xfrm>
            <a:off x="5577840" y="34290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429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Verletzt die Würde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Fälle 1 und 2</a:t>
            </a:r>
            <a:endParaRPr lang="en-US" sz="3200" dirty="0"/>
          </a:p>
        </p:txBody>
      </p:sp>
      <p:sp>
        <p:nvSpPr>
          <p:cNvPr id="3" name="Fallkarte 1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all 1"/>
          <p:cNvSpPr/>
          <p:nvPr/>
        </p:nvSpPr>
        <p:spPr>
          <a:xfrm>
            <a:off x="731520" y="141732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Karikatur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Eine Zeitung druckt eine überspitzte Karikatur eines Ministers, der darauf als Clown dargestellt ist. Anlass ist seine Bildungspolitik.</a:t>
            </a:r>
            <a:endParaRPr lang="en-US" sz="1800" dirty="0"/>
          </a:p>
        </p:txBody>
      </p:sp>
      <p:sp>
        <p:nvSpPr>
          <p:cNvPr id="7" name="Fallkarte 2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all 2"/>
          <p:cNvSpPr/>
          <p:nvPr/>
        </p:nvSpPr>
        <p:spPr>
          <a:xfrm>
            <a:off x="4937760" y="141732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Schulkommentar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2860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Unter einem Schul-Post steht: „Die Entscheidung der Schulleitung ist eine Katastrophe, so unfähig kann man nur sein, wenn man keine Ahnung hat.“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Fälle 3 und 4</a:t>
            </a:r>
            <a:endParaRPr lang="en-US" sz="3200" dirty="0"/>
          </a:p>
        </p:txBody>
      </p:sp>
      <p:sp>
        <p:nvSpPr>
          <p:cNvPr id="3" name="Fallkarte 3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all 3"/>
          <p:cNvSpPr/>
          <p:nvPr/>
        </p:nvSpPr>
        <p:spPr>
          <a:xfrm>
            <a:off x="731520" y="141732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Klassenchat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Ein Mitschüler wird mit einem bearbeiteten Foto und der Unterschrift „Du bist einfach nur Müll“ in der Klassengruppe herumgeschickt. Viele reagieren mit Lach-Emojis.</a:t>
            </a:r>
            <a:endParaRPr lang="en-US" sz="1800" dirty="0"/>
          </a:p>
        </p:txBody>
      </p:sp>
      <p:sp>
        <p:nvSpPr>
          <p:cNvPr id="7" name="Fallkarte 4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all 4"/>
          <p:cNvSpPr/>
          <p:nvPr/>
        </p:nvSpPr>
        <p:spPr>
          <a:xfrm>
            <a:off x="4937760" y="141732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2860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Ein Nutzer schreibt: „Leute aus [Land X] sind alle kriminell und sollten hier nicht leben dürfen.“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Positionslinie im Klassenraum</a:t>
            </a:r>
            <a:endParaRPr lang="en-US" sz="3200" dirty="0"/>
          </a:p>
        </p:txBody>
      </p:sp>
      <p:sp>
        <p:nvSpPr>
          <p:cNvPr id="3" name="Zone 1"/>
          <p:cNvSpPr/>
          <p:nvPr/>
        </p:nvSpPr>
        <p:spPr>
          <a:xfrm>
            <a:off x="457200" y="1188720"/>
            <a:ext cx="2743200" cy="8229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Von der Meinungsfreiheit gedeckt</a:t>
            </a:r>
            <a:endParaRPr lang="en-US" sz="1600" dirty="0"/>
          </a:p>
        </p:txBody>
      </p:sp>
      <p:sp>
        <p:nvSpPr>
          <p:cNvPr id="4" name="Zone 2"/>
          <p:cNvSpPr/>
          <p:nvPr/>
        </p:nvSpPr>
        <p:spPr>
          <a:xfrm>
            <a:off x="3200400" y="1188720"/>
            <a:ext cx="2743200" cy="82296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Grenzfall</a:t>
            </a:r>
            <a:endParaRPr lang="en-US" sz="1600" dirty="0"/>
          </a:p>
        </p:txBody>
      </p:sp>
      <p:sp>
        <p:nvSpPr>
          <p:cNvPr id="5" name="Zone 3"/>
          <p:cNvSpPr/>
          <p:nvPr/>
        </p:nvSpPr>
        <p:spPr>
          <a:xfrm>
            <a:off x="5943600" y="1188720"/>
            <a:ext cx="2743200" cy="82296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Verletzt die Würde</a:t>
            </a:r>
            <a:endParaRPr lang="en-US" sz="1600" dirty="0"/>
          </a:p>
        </p:txBody>
      </p:sp>
      <p:sp>
        <p:nvSpPr>
          <p:cNvPr id="6" name="Schritt-Karte 1"/>
          <p:cNvSpPr/>
          <p:nvPr/>
        </p:nvSpPr>
        <p:spPr>
          <a:xfrm>
            <a:off x="457200" y="246888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os-Nr 1"/>
          <p:cNvSpPr/>
          <p:nvPr/>
        </p:nvSpPr>
        <p:spPr>
          <a:xfrm>
            <a:off x="685800" y="2697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Aufstellen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474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 Fall positioniert sich jeder auf der Linie.</a:t>
            </a:r>
            <a:endParaRPr lang="en-US" sz="1400" dirty="0"/>
          </a:p>
        </p:txBody>
      </p:sp>
      <p:sp>
        <p:nvSpPr>
          <p:cNvPr id="10" name="Schritt-Karte 2"/>
          <p:cNvSpPr/>
          <p:nvPr/>
        </p:nvSpPr>
        <p:spPr>
          <a:xfrm>
            <a:off x="3291840" y="246888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os-Nr 2"/>
          <p:cNvSpPr/>
          <p:nvPr/>
        </p:nvSpPr>
        <p:spPr>
          <a:xfrm>
            <a:off x="3520440" y="2697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Begründen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474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Je eine Stimme von beiden Enden argumentiert.</a:t>
            </a:r>
            <a:endParaRPr lang="en-US" sz="1400" dirty="0"/>
          </a:p>
        </p:txBody>
      </p:sp>
      <p:sp>
        <p:nvSpPr>
          <p:cNvPr id="14" name="Schritt-Karte 3"/>
          <p:cNvSpPr/>
          <p:nvPr/>
        </p:nvSpPr>
        <p:spPr>
          <a:xfrm>
            <a:off x="6126480" y="246888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os-Nr 3"/>
          <p:cNvSpPr/>
          <p:nvPr/>
        </p:nvSpPr>
        <p:spPr>
          <a:xfrm>
            <a:off x="6355080" y="2697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Wechseln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4747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Wer überzeugt wurde, darf die Position ändern.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Schreibauftrag: Regel für den Klassenchat</a:t>
            </a:r>
            <a:endParaRPr lang="en-US" sz="3200" dirty="0"/>
          </a:p>
        </p:txBody>
      </p:sp>
      <p:sp>
        <p:nvSpPr>
          <p:cNvPr id="3" name="Auftragskarte"/>
          <p:cNvSpPr/>
          <p:nvPr/>
        </p:nvSpPr>
        <p:spPr>
          <a:xfrm>
            <a:off x="457200" y="1188720"/>
            <a:ext cx="51206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 bist Mitglied der Schülerzeitung.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Formuliere eine Regel für den Klassenchat, die Meinungsfreiheit schützt und die Würde sichert. Begründe sie mit dem Prüfraster.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Einzelarbeit · ca. 9 Minuten</a:t>
            </a:r>
            <a:endParaRPr lang="en-US" sz="1400" dirty="0"/>
          </a:p>
        </p:txBody>
      </p:sp>
      <p:sp>
        <p:nvSpPr>
          <p:cNvPr id="7" name="Satzzahl"/>
          <p:cNvSpPr/>
          <p:nvPr/>
        </p:nvSpPr>
        <p:spPr>
          <a:xfrm>
            <a:off x="6035040" y="1371600"/>
            <a:ext cx="2194560" cy="219456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5–8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Sätze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91440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Exit-Ticket</a:t>
            </a:r>
            <a:endParaRPr lang="en-US" sz="4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1089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Ein Satz im Heft: „Meinungsfreiheit endet für mich dort, wo …“</a:t>
            </a:r>
            <a:endParaRPr lang="en-US" sz="1800" dirty="0"/>
          </a:p>
        </p:txBody>
      </p:sp>
      <p:sp>
        <p:nvSpPr>
          <p:cNvPr id="4" name="Ampel Gehäuse"/>
          <p:cNvSpPr/>
          <p:nvPr/>
        </p:nvSpPr>
        <p:spPr>
          <a:xfrm>
            <a:off x="6720840" y="640080"/>
            <a:ext cx="1554480" cy="3840480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Ampel Rot"/>
          <p:cNvSpPr/>
          <p:nvPr/>
        </p:nvSpPr>
        <p:spPr>
          <a:xfrm>
            <a:off x="6949440" y="868680"/>
            <a:ext cx="1097280" cy="10972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6" name="Ampel Gelb"/>
          <p:cNvSpPr/>
          <p:nvPr/>
        </p:nvSpPr>
        <p:spPr>
          <a:xfrm>
            <a:off x="6949440" y="2057400"/>
            <a:ext cx="1097280" cy="10972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7" name="Ampel Grün"/>
          <p:cNvSpPr/>
          <p:nvPr/>
        </p:nvSpPr>
        <p:spPr>
          <a:xfrm>
            <a:off x="6949440" y="324612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Nur Lehrkraft: Ablauf</a:t>
            </a:r>
            <a:endParaRPr lang="en-US" sz="3200" dirty="0"/>
          </a:p>
        </p:txBody>
      </p:sp>
      <p:sp>
        <p:nvSpPr>
          <p:cNvPr id="3" name="Zeit 1"/>
          <p:cNvSpPr/>
          <p:nvPr/>
        </p:nvSpPr>
        <p:spPr>
          <a:xfrm>
            <a:off x="457200" y="1188720"/>
            <a:ext cx="1280160" cy="438912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0–5 min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1887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Einstieg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18872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Art. 1 und Art. 5 GG an die Tafel, Kernaussagen sammeln</a:t>
            </a:r>
            <a:endParaRPr lang="en-US" sz="1400" dirty="0"/>
          </a:p>
        </p:txBody>
      </p:sp>
      <p:sp>
        <p:nvSpPr>
          <p:cNvPr id="6" name="Zeit 2"/>
          <p:cNvSpPr/>
          <p:nvPr/>
        </p:nvSpPr>
        <p:spPr>
          <a:xfrm>
            <a:off x="457200" y="1737360"/>
            <a:ext cx="1280160" cy="438912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5–8 min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7373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Prüfraster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73736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Vier Fragen anschreiben, Schüler schreiben mit</a:t>
            </a:r>
            <a:endParaRPr lang="en-US" sz="1400" dirty="0"/>
          </a:p>
        </p:txBody>
      </p:sp>
      <p:sp>
        <p:nvSpPr>
          <p:cNvPr id="9" name="Zeit 3"/>
          <p:cNvSpPr/>
          <p:nvPr/>
        </p:nvSpPr>
        <p:spPr>
          <a:xfrm>
            <a:off x="457200" y="2286000"/>
            <a:ext cx="1280160" cy="438912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8–20 min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2860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Gruppenarbeit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22860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Vier Fälle, Ampelentscheidung mit Begründung</a:t>
            </a:r>
            <a:endParaRPr lang="en-US" sz="1400" dirty="0"/>
          </a:p>
        </p:txBody>
      </p:sp>
      <p:sp>
        <p:nvSpPr>
          <p:cNvPr id="12" name="Zeit 4"/>
          <p:cNvSpPr/>
          <p:nvPr/>
        </p:nvSpPr>
        <p:spPr>
          <a:xfrm>
            <a:off x="457200" y="2834640"/>
            <a:ext cx="1280160" cy="438912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20–33 min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2834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Plenum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283464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Positionslinie, Begründung von beiden Enden</a:t>
            </a:r>
            <a:endParaRPr lang="en-US" sz="1400" dirty="0"/>
          </a:p>
        </p:txBody>
      </p:sp>
      <p:sp>
        <p:nvSpPr>
          <p:cNvPr id="15" name="Zeit 5"/>
          <p:cNvSpPr/>
          <p:nvPr/>
        </p:nvSpPr>
        <p:spPr>
          <a:xfrm>
            <a:off x="457200" y="3383280"/>
            <a:ext cx="1280160" cy="438912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33–42 min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33832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Schreibauftrag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338328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Regel für den Klassenchat, Einzelarbeit</a:t>
            </a:r>
            <a:endParaRPr lang="en-US" sz="1400" dirty="0"/>
          </a:p>
        </p:txBody>
      </p:sp>
      <p:sp>
        <p:nvSpPr>
          <p:cNvPr id="18" name="Zeit 6"/>
          <p:cNvSpPr/>
          <p:nvPr/>
        </p:nvSpPr>
        <p:spPr>
          <a:xfrm>
            <a:off x="457200" y="3931920"/>
            <a:ext cx="1280160" cy="438912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42–45 min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39319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Exit-Ticket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93192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Ein Satz, zugleich Nachweis der Mitarbeit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Nur Lehrkraft: Lösungshinweise</a:t>
            </a:r>
            <a:endParaRPr lang="en-US" sz="3200" dirty="0"/>
          </a:p>
        </p:txBody>
      </p:sp>
      <p:sp>
        <p:nvSpPr>
          <p:cNvPr id="3" name="Hinweis-Ampel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143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Fall 1 · Karikatur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1430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Satire ist stark geschützt. Gegenfrage: Und wenn er wegen Herkunft oder Religion verspottet würde?</a:t>
            </a:r>
            <a:endParaRPr lang="en-US" sz="1400" dirty="0"/>
          </a:p>
        </p:txBody>
      </p:sp>
      <p:sp>
        <p:nvSpPr>
          <p:cNvPr id="6" name="Hinweis-Ampel 2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Fall 2 · Kommentar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9659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Harte Kritik an einer Entscheidung ist erlaubt. Diskutieren: Kritik vs. Beschimpfung.</a:t>
            </a:r>
            <a:endParaRPr lang="en-US" sz="1400" dirty="0"/>
          </a:p>
        </p:txBody>
      </p:sp>
      <p:sp>
        <p:nvSpPr>
          <p:cNvPr id="9" name="Hinweis-Ampel 3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788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Fall 3 · Klassenchat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7889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Herabwürdigung der Person, keine Meinung mehr. Rolle der Mitläufer (Lach-Emojis) ansprechen.</a:t>
            </a:r>
            <a:endParaRPr lang="en-US" sz="1400" dirty="0"/>
          </a:p>
        </p:txBody>
      </p:sp>
      <p:sp>
        <p:nvSpPr>
          <p:cNvPr id="12" name="Hinweis-Ampel 4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Fall 4 · Social Media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36118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Pauschale Gruppenabwertung, nah an Volksverhetzung (§ 130 StGB, Hinweis, nicht geprüft).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34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Hintergrund: Art. 5 Abs. 2 GG nennt Schranken der Meinungsfreiheit, u. a. das Recht der persönlichen Ehre und die allgemeinen Gesetze.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thik Meinungsfreiheit">
  <a:themeElements>
    <a:clrScheme name="Ethik Meinungsfreiheit">
      <a:dk1>
        <a:srgbClr val="1B2A41"/>
      </a:dk1>
      <a:lt1>
        <a:srgbClr val="FFFFFF"/>
      </a:lt1>
      <a:dk2>
        <a:srgbClr val="324A5F"/>
      </a:dk2>
      <a:lt2>
        <a:srgbClr val="EEF2F7"/>
      </a:lt2>
      <a:accent1>
        <a:srgbClr val="F2A541"/>
      </a:accent1>
      <a:accent2>
        <a:srgbClr val="2E9E6B"/>
      </a:accent2>
      <a:accent3>
        <a:srgbClr val="E8B923"/>
      </a:accent3>
      <a:accent4>
        <a:srgbClr val="D64545"/>
      </a:accent4>
      <a:accent5>
        <a:srgbClr val="4A6FA5"/>
      </a:accent5>
      <a:accent6>
        <a:srgbClr val="8896A8"/>
      </a:accent6>
      <a:hlink>
        <a:srgbClr val="4A6FA5"/>
      </a:hlink>
      <a:folHlink>
        <a:srgbClr val="8896A8"/>
      </a:folHlink>
    </a:clrScheme>
    <a:fontScheme name="Ethik Meinungsfreihe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Vertretungsstunde Ethik: Wo endet die Meinungsfreiheit?</dc:title>
  <dc:subject>PptxGenJS Presentation</dc:subject>
  <dc:creator>PptxGenJS</dc:creator>
  <cp:lastModifiedBy>PptxGenJS</cp:lastModifiedBy>
  <cp:revision>1</cp:revision>
  <dcterms:created xsi:type="dcterms:W3CDTF">2026-10-14T06:25:12Z</dcterms:created>
  <dcterms:modified xsi:type="dcterms:W3CDTF">2026-10-14T06:25:12Z</dcterms:modified>
</cp:coreProperties>
</file>